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 snapToObjects="1">
      <p:cViewPr varScale="1">
        <p:scale>
          <a:sx n="55" d="100"/>
          <a:sy n="55" d="100"/>
        </p:scale>
        <p:origin x="1096" y="3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9/21/2025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9/21/2025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youtu.be/RkFp7xHUhkg?feature=shared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9092731" y="204320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250444"/>
            <a:ext cx="8534400" cy="1122869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2129" y="1609558"/>
            <a:ext cx="8761445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Problem Statement ID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25050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Smart Traffic Management System for Urban Congestion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Theme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Transportation &amp; Logistics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PS Category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- Software + (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Hardware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Team ID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Team Name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- ALPHA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5158738-E21F-5683-2B49-5314F0A3E42B}"/>
              </a:ext>
            </a:extLst>
          </p:cNvPr>
          <p:cNvSpPr/>
          <p:nvPr/>
        </p:nvSpPr>
        <p:spPr>
          <a:xfrm>
            <a:off x="6387315" y="4266123"/>
            <a:ext cx="4487514" cy="1938992"/>
          </a:xfrm>
          <a:prstGeom prst="rect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40000" dist="20000" dir="5400000" rotWithShape="0">
              <a:srgbClr val="000000">
                <a:alpha val="38000"/>
              </a:srgbClr>
            </a:outerShdw>
            <a:softEdge rad="3175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13E34E-8D57-9BFE-0260-49DE75FECD16}"/>
              </a:ext>
            </a:extLst>
          </p:cNvPr>
          <p:cNvSpPr/>
          <p:nvPr/>
        </p:nvSpPr>
        <p:spPr>
          <a:xfrm>
            <a:off x="870857" y="4266123"/>
            <a:ext cx="4201886" cy="1938992"/>
          </a:xfrm>
          <a:prstGeom prst="rect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40000" dist="20000" dir="5400000" rotWithShape="0">
              <a:srgbClr val="000000">
                <a:alpha val="38000"/>
              </a:srgbClr>
            </a:outerShdw>
            <a:softEdge rad="635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631371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SMART TRAFFIC CONTROL SIGNALS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82998" y="1286690"/>
            <a:ext cx="11268774" cy="307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u="sng" dirty="0">
                <a:solidFill>
                  <a:schemeClr val="tx2"/>
                </a:solidFill>
                <a:latin typeface="Bahnschrift" panose="020B0502040204020203" pitchFamily="34" charset="0"/>
                <a:cs typeface="Arial" pitchFamily="34" charset="0"/>
              </a:rPr>
              <a:t>Smart Traffic Controls Signals using AI that: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Bahnschrift" panose="020B0502040204020203" pitchFamily="34" charset="0"/>
                <a:cs typeface="Arial" pitchFamily="34" charset="0"/>
              </a:rPr>
              <a:t>🚑</a:t>
            </a:r>
            <a:r>
              <a:rPr lang="en-US" sz="3200" b="1" dirty="0">
                <a:latin typeface="Bahnschrift" panose="020B0502040204020203" pitchFamily="34" charset="0"/>
                <a:cs typeface="Arial" pitchFamily="34" charset="0"/>
              </a:rPr>
              <a:t> </a:t>
            </a:r>
            <a:r>
              <a:rPr lang="en-US" b="1" dirty="0">
                <a:latin typeface="Bahnschrift" panose="020B0502040204020203" pitchFamily="34" charset="0"/>
                <a:cs typeface="Arial" pitchFamily="34" charset="0"/>
              </a:rPr>
              <a:t>Detect ambulance sirens → create green corridor.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Bahnschrift" panose="020B0502040204020203" pitchFamily="34" charset="0"/>
                <a:cs typeface="Arial" pitchFamily="34" charset="0"/>
              </a:rPr>
              <a:t>🚗 Monitor car density → adjust signals to reduce jams.</a:t>
            </a:r>
            <a:endParaRPr lang="en-US" u="sng" dirty="0">
              <a:solidFill>
                <a:schemeClr val="tx2"/>
              </a:solidFill>
              <a:latin typeface="Bahnschrift" panose="020B0502040204020203" pitchFamily="34" charset="0"/>
              <a:cs typeface="Arial" pitchFamily="34" charset="0"/>
            </a:endParaRPr>
          </a:p>
          <a:p>
            <a:pPr algn="just"/>
            <a:endParaRPr lang="en-US" u="sng" dirty="0">
              <a:solidFill>
                <a:schemeClr val="tx2"/>
              </a:solidFill>
              <a:latin typeface="Bahnschrift" panose="020B0502040204020203" pitchFamily="34" charset="0"/>
              <a:cs typeface="Arial" pitchFamily="34" charset="0"/>
            </a:endParaRPr>
          </a:p>
          <a:p>
            <a:pPr algn="just"/>
            <a:r>
              <a:rPr lang="en-US" sz="1600" b="1" u="sng" dirty="0">
                <a:latin typeface="Bahnschrift" panose="020B0502040204020203" pitchFamily="34" charset="0"/>
                <a:cs typeface="Arial" pitchFamily="34" charset="0"/>
              </a:rPr>
              <a:t>ADDRESSING PROBLEM BY </a:t>
            </a:r>
            <a:r>
              <a:rPr lang="en-US" dirty="0">
                <a:latin typeface="Bahnschrift" panose="020B0502040204020203" pitchFamily="34" charset="0"/>
                <a:cs typeface="Arial" pitchFamily="34" charset="0"/>
              </a:rPr>
              <a:t>: </a:t>
            </a:r>
            <a:r>
              <a:rPr lang="en-US" dirty="0">
                <a:latin typeface="Bahnschrift" panose="020B0502040204020203" pitchFamily="34" charset="0"/>
              </a:rPr>
              <a:t>Developing software to control traffic signals for emergency vehicles, congestion, and pedestrians, with a demo model using Arduino Uno hardware for real-life world example."</a:t>
            </a:r>
            <a:r>
              <a:rPr lang="en-US" dirty="0">
                <a:latin typeface="Bahnschrift" panose="020B0502040204020203" pitchFamily="34" charset="0"/>
                <a:cs typeface="Arial" pitchFamily="34" charset="0"/>
              </a:rPr>
              <a:t>.</a:t>
            </a:r>
          </a:p>
          <a:p>
            <a:pPr algn="just"/>
            <a:endParaRPr lang="en-US" sz="2400" dirty="0">
              <a:latin typeface="Bahnschrift" panose="020B0502040204020203" pitchFamily="34" charset="0"/>
              <a:cs typeface="Arial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Bahnschrift" panose="020B0502040204020203" pitchFamily="34" charset="0"/>
                <a:cs typeface="Arial" pitchFamily="34" charset="0"/>
              </a:rPr>
              <a:t>Innovation and uniqueness </a:t>
            </a:r>
          </a:p>
          <a:p>
            <a:pPr marL="457200" indent="-457200" algn="just">
              <a:buFont typeface="+mj-lt"/>
              <a:buAutoNum type="arabicPeriod"/>
            </a:pPr>
            <a:endParaRPr lang="en-US" sz="1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Alpha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3107" y="43628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826CB61-FF05-1DDD-369A-ADAD22CC559F}"/>
              </a:ext>
            </a:extLst>
          </p:cNvPr>
          <p:cNvSpPr txBox="1"/>
          <p:nvPr/>
        </p:nvSpPr>
        <p:spPr>
          <a:xfrm>
            <a:off x="930817" y="4242824"/>
            <a:ext cx="432387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Prioritizes emergency vehicles in real-time.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Dynamically adjusts traffic signals based on flow.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Detects vehicle and pedestrian density for smarter control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803D01-D57C-A51C-A2CE-26B249954C4F}"/>
              </a:ext>
            </a:extLst>
          </p:cNvPr>
          <p:cNvSpPr txBox="1"/>
          <p:nvPr/>
        </p:nvSpPr>
        <p:spPr>
          <a:xfrm>
            <a:off x="6387315" y="4266123"/>
            <a:ext cx="470056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with Arduino for real-world implementation.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congestion, pedestrians, and emergencies simultaneously.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Scalable and AI-driven for continuous optimization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66532" y="-204846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2915" y="106043"/>
            <a:ext cx="1154850" cy="65651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Alpha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2913" y="46241"/>
            <a:ext cx="1783742" cy="906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10DFC86-CF18-8E93-9266-6EC33B6AF06C}"/>
              </a:ext>
            </a:extLst>
          </p:cNvPr>
          <p:cNvSpPr txBox="1"/>
          <p:nvPr/>
        </p:nvSpPr>
        <p:spPr>
          <a:xfrm>
            <a:off x="442862" y="1014232"/>
            <a:ext cx="23462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u="sng" dirty="0"/>
              <a:t>TECHNOLOGY USED: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4A9C72-A392-69B1-265C-FCC4227B70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06" y="1660266"/>
            <a:ext cx="826898" cy="7857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FFC99C9-ADAE-E7A7-13B0-697E00B81584}"/>
              </a:ext>
            </a:extLst>
          </p:cNvPr>
          <p:cNvSpPr txBox="1"/>
          <p:nvPr/>
        </p:nvSpPr>
        <p:spPr>
          <a:xfrm>
            <a:off x="1018353" y="1404882"/>
            <a:ext cx="230533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u="sng" dirty="0"/>
              <a:t>LIBRARY USED (BACKEND+AI</a:t>
            </a:r>
            <a:r>
              <a:rPr lang="en-IN" sz="14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ULTRALYTICS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OPENCV-PYTHON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IPYTHON.DISPLAY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NUMPY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SOUNDDEVICE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MATPLOTLIB.PYPLOT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SCOOTY.FFTPACK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SERIAL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549C9C-52A2-BBF8-8529-FCABC9C3DC2F}"/>
              </a:ext>
            </a:extLst>
          </p:cNvPr>
          <p:cNvSpPr txBox="1"/>
          <p:nvPr/>
        </p:nvSpPr>
        <p:spPr>
          <a:xfrm>
            <a:off x="16418" y="2522133"/>
            <a:ext cx="1154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PYTHON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0F953A2-BFFD-AD25-C45A-D48186410A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42" y="4285326"/>
            <a:ext cx="523780" cy="57329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6EC2341-38B6-C17F-7721-CB4D2ECD5D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6279" y="4323372"/>
            <a:ext cx="523780" cy="58932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E3E75F3-F7C6-6092-072A-B78D20A6B5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2197" y="4321151"/>
            <a:ext cx="523775" cy="57412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39FF2D7-1F2F-864F-366E-579A4BBF91EF}"/>
              </a:ext>
            </a:extLst>
          </p:cNvPr>
          <p:cNvSpPr txBox="1"/>
          <p:nvPr/>
        </p:nvSpPr>
        <p:spPr>
          <a:xfrm>
            <a:off x="50226" y="4876036"/>
            <a:ext cx="6801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HTML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65218B-028C-3C60-3932-070983AA1EC8}"/>
              </a:ext>
            </a:extLst>
          </p:cNvPr>
          <p:cNvSpPr txBox="1"/>
          <p:nvPr/>
        </p:nvSpPr>
        <p:spPr>
          <a:xfrm>
            <a:off x="1227501" y="4896386"/>
            <a:ext cx="6250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CSS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244CC0-6271-194E-BE6B-B31A4CE62C35}"/>
              </a:ext>
            </a:extLst>
          </p:cNvPr>
          <p:cNvSpPr txBox="1"/>
          <p:nvPr/>
        </p:nvSpPr>
        <p:spPr>
          <a:xfrm>
            <a:off x="2463528" y="4911443"/>
            <a:ext cx="5283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JS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C174C9C-2746-434A-28B3-9B7AA029D9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915" y="5484340"/>
            <a:ext cx="555507" cy="52741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83ED90C-F828-B912-32B5-101BD80FFB65}"/>
              </a:ext>
            </a:extLst>
          </p:cNvPr>
          <p:cNvSpPr txBox="1"/>
          <p:nvPr/>
        </p:nvSpPr>
        <p:spPr>
          <a:xfrm>
            <a:off x="460265" y="3810081"/>
            <a:ext cx="2547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u="sng" dirty="0"/>
              <a:t>Frontend ( software)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6722D9-321E-3EE8-054C-E4CBB50957FF}"/>
              </a:ext>
            </a:extLst>
          </p:cNvPr>
          <p:cNvSpPr txBox="1"/>
          <p:nvPr/>
        </p:nvSpPr>
        <p:spPr>
          <a:xfrm>
            <a:off x="752984" y="5319585"/>
            <a:ext cx="1632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  <a:r>
              <a:rPr lang="en-IN" u="sng" dirty="0"/>
              <a:t>For Hardware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0573EE-5A9D-95EA-6EB0-3C786C672DE9}"/>
              </a:ext>
            </a:extLst>
          </p:cNvPr>
          <p:cNvSpPr txBox="1"/>
          <p:nvPr/>
        </p:nvSpPr>
        <p:spPr>
          <a:xfrm>
            <a:off x="558982" y="5974303"/>
            <a:ext cx="2155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Arduino ide ( in C++)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B4F87D4-56C7-E30F-D44A-D5B3740D071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6415" y="5512758"/>
            <a:ext cx="528326" cy="509679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00B558A-D962-0E46-BFE9-DD480FF65821}"/>
              </a:ext>
            </a:extLst>
          </p:cNvPr>
          <p:cNvCxnSpPr/>
          <p:nvPr/>
        </p:nvCxnSpPr>
        <p:spPr>
          <a:xfrm>
            <a:off x="3302284" y="762557"/>
            <a:ext cx="0" cy="55095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0AA04BE-982C-885B-28CD-BA4BC9F3F260}"/>
              </a:ext>
            </a:extLst>
          </p:cNvPr>
          <p:cNvSpPr txBox="1"/>
          <p:nvPr/>
        </p:nvSpPr>
        <p:spPr>
          <a:xfrm>
            <a:off x="4525194" y="754984"/>
            <a:ext cx="39364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/>
              <a:t>METHODOLOGY (FLOWCHART)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1A5087-69AF-F8B0-A3E0-D9F248C245F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23685" y="1344906"/>
            <a:ext cx="5635114" cy="4785389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5ACCD8-91A5-8C9A-1F98-9C9093650BF5}"/>
              </a:ext>
            </a:extLst>
          </p:cNvPr>
          <p:cNvCxnSpPr>
            <a:cxnSpLocks/>
          </p:cNvCxnSpPr>
          <p:nvPr/>
        </p:nvCxnSpPr>
        <p:spPr>
          <a:xfrm>
            <a:off x="8958799" y="727705"/>
            <a:ext cx="0" cy="55444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CA915C4-55E4-E562-68BD-10442BAFA70C}"/>
              </a:ext>
            </a:extLst>
          </p:cNvPr>
          <p:cNvSpPr txBox="1"/>
          <p:nvPr/>
        </p:nvSpPr>
        <p:spPr>
          <a:xfrm>
            <a:off x="9051403" y="1035550"/>
            <a:ext cx="3150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HARDWARE CIRCUIT DIAGRAM</a:t>
            </a:r>
            <a:endParaRPr lang="en-IN" b="1" u="sng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6048096-323E-E9D9-C313-9C37A605005E}"/>
              </a:ext>
            </a:extLst>
          </p:cNvPr>
          <p:cNvSpPr/>
          <p:nvPr/>
        </p:nvSpPr>
        <p:spPr>
          <a:xfrm>
            <a:off x="6250200" y="4461455"/>
            <a:ext cx="5637000" cy="1709372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40000" dist="20000" dir="5400000" rotWithShape="0">
              <a:srgbClr val="000000">
                <a:alpha val="38000"/>
              </a:srgbClr>
            </a:outerShdw>
            <a:softEdge rad="3175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5D0F31-994E-DE4C-E734-5EDB7BF2BE3C}"/>
              </a:ext>
            </a:extLst>
          </p:cNvPr>
          <p:cNvSpPr/>
          <p:nvPr/>
        </p:nvSpPr>
        <p:spPr>
          <a:xfrm>
            <a:off x="163270" y="4343400"/>
            <a:ext cx="5682359" cy="1807343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40000" dist="20000" dir="5400000" rotWithShape="0">
              <a:srgbClr val="000000">
                <a:alpha val="38000"/>
              </a:srgbClr>
            </a:outerShdw>
            <a:softEdge rad="3175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89844" y="1288549"/>
            <a:ext cx="11660642" cy="2215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                                             </a:t>
            </a: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Feasibility Analysis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lvl="0" indent="-342900" defTabSz="914400" eaLnBrk="0" hangingPunct="0">
              <a:buFont typeface="Wingdings" panose="05000000000000000000" pitchFamily="2" charset="2"/>
              <a:buChar char="§"/>
            </a:pPr>
            <a:r>
              <a:rPr lang="en-US" altLang="en-US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Technical: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Detects traffic and emergency vehicles; demo uses webcam, real-world uses advanced sensors.</a:t>
            </a:r>
          </a:p>
          <a:p>
            <a:pPr marL="342900" lvl="0" indent="-342900" defTabSz="914400" eaLnBrk="0" hangingPunct="0">
              <a:buFont typeface="Wingdings" panose="05000000000000000000" pitchFamily="2" charset="2"/>
              <a:buChar char="§"/>
            </a:pPr>
            <a:r>
              <a:rPr lang="en-US" altLang="en-US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Operational:</a:t>
            </a:r>
            <a:r>
              <a:rPr lang="en-US" alt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traffic flow, emergency response, and safety.</a:t>
            </a:r>
          </a:p>
          <a:p>
            <a:pPr marL="342900" indent="-342900" defTabSz="914400" eaLnBrk="0" hangingPunct="0">
              <a:buFont typeface="Wingdings" panose="05000000000000000000" pitchFamily="2" charset="2"/>
              <a:buChar char="§"/>
            </a:pPr>
            <a:r>
              <a:rPr lang="en-US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Economics: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accidents and fuel use; lowers costs long-term through better traffic management.</a:t>
            </a:r>
          </a:p>
          <a:p>
            <a:pPr marL="342900" lvl="0" indent="-342900" defTabSz="914400" eaLnBrk="0" hangingPunct="0">
              <a:buFont typeface="Wingdings" panose="05000000000000000000" pitchFamily="2" charset="2"/>
              <a:buChar char="§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Alpha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EE84FEB-A4E8-63BC-FA32-95674D4D1E4A}"/>
              </a:ext>
            </a:extLst>
          </p:cNvPr>
          <p:cNvSpPr txBox="1"/>
          <p:nvPr/>
        </p:nvSpPr>
        <p:spPr>
          <a:xfrm>
            <a:off x="163270" y="3580809"/>
            <a:ext cx="5977832" cy="2569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Challenges &amp; Risks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coverage and weather effects on detection.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traffic may slow processing.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issues with traffic lights.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alerts for emergencies.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 concerns.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83CDB9-1FAE-13F3-F909-7816F779A84E}"/>
              </a:ext>
            </a:extLst>
          </p:cNvPr>
          <p:cNvSpPr txBox="1"/>
          <p:nvPr/>
        </p:nvSpPr>
        <p:spPr>
          <a:xfrm>
            <a:off x="6250200" y="3568691"/>
            <a:ext cx="635929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Strategies to Overcome all Challenges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multiple or high-res sensors.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AI for all conditions like weather effects etc.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processing for speed.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Backup manual control.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false alerts and protect privacy.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268638" y="36965"/>
            <a:ext cx="7060557" cy="879626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15333" y="76574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Alpha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99681F0-A018-94AD-A6DD-70BC0B04345D}"/>
              </a:ext>
            </a:extLst>
          </p:cNvPr>
          <p:cNvSpPr/>
          <p:nvPr/>
        </p:nvSpPr>
        <p:spPr>
          <a:xfrm>
            <a:off x="707571" y="1371600"/>
            <a:ext cx="4397829" cy="476794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A174FA-EC4C-7298-76D8-D2EE37828556}"/>
              </a:ext>
            </a:extLst>
          </p:cNvPr>
          <p:cNvSpPr/>
          <p:nvPr/>
        </p:nvSpPr>
        <p:spPr>
          <a:xfrm>
            <a:off x="6934199" y="1371599"/>
            <a:ext cx="4397829" cy="476794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398651-8ED1-A426-DA54-71A45280BE87}"/>
              </a:ext>
            </a:extLst>
          </p:cNvPr>
          <p:cNvSpPr txBox="1"/>
          <p:nvPr/>
        </p:nvSpPr>
        <p:spPr>
          <a:xfrm>
            <a:off x="533400" y="979638"/>
            <a:ext cx="49802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Potential Impact on Target Audience</a:t>
            </a:r>
            <a:endParaRPr lang="en-IN" sz="2400" b="1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464143-F9C4-A501-1DA5-194260D735A3}"/>
              </a:ext>
            </a:extLst>
          </p:cNvPr>
          <p:cNvSpPr txBox="1"/>
          <p:nvPr/>
        </p:nvSpPr>
        <p:spPr>
          <a:xfrm>
            <a:off x="859972" y="1714847"/>
            <a:ext cx="398641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 defTabSz="914400" eaLnBrk="0" hangingPunct="0"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emergency response and reduced accident risks.</a:t>
            </a:r>
          </a:p>
          <a:p>
            <a:pPr marL="342900" lvl="0" indent="-342900" algn="just" defTabSz="914400" eaLnBrk="0" hangingPunct="0">
              <a:buFont typeface="Wingdings" panose="05000000000000000000" pitchFamily="2" charset="2"/>
              <a:buChar char="v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defTabSz="914400" eaLnBrk="0" hangingPunct="0"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pedestrian safety and smoother traffic flow.</a:t>
            </a:r>
          </a:p>
          <a:p>
            <a:pPr marL="342900" lvl="0" indent="-342900" algn="just" defTabSz="914400" eaLnBrk="0" hangingPunct="0">
              <a:buFont typeface="Wingdings" panose="05000000000000000000" pitchFamily="2" charset="2"/>
              <a:buChar char="v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defTabSz="914400" eaLnBrk="0" hangingPunct="0"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stress and better commuting experience.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7F32FE2-5F88-C4BD-E833-2DBB72CCE52C}"/>
              </a:ext>
            </a:extLst>
          </p:cNvPr>
          <p:cNvSpPr/>
          <p:nvPr/>
        </p:nvSpPr>
        <p:spPr>
          <a:xfrm>
            <a:off x="1328057" y="4724400"/>
            <a:ext cx="3091543" cy="160677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F3C4920-8438-4A46-C9DC-5022858EA923}"/>
              </a:ext>
            </a:extLst>
          </p:cNvPr>
          <p:cNvSpPr/>
          <p:nvPr/>
        </p:nvSpPr>
        <p:spPr>
          <a:xfrm>
            <a:off x="7587341" y="4749575"/>
            <a:ext cx="3091543" cy="160677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BF9C22-2E87-2AC2-C7A8-DD78A6E99BE2}"/>
              </a:ext>
            </a:extLst>
          </p:cNvPr>
          <p:cNvSpPr txBox="1"/>
          <p:nvPr/>
        </p:nvSpPr>
        <p:spPr>
          <a:xfrm>
            <a:off x="7108370" y="990475"/>
            <a:ext cx="38970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u="sng" dirty="0"/>
              <a:t>Benefits of the Solution</a:t>
            </a:r>
          </a:p>
          <a:p>
            <a:endParaRPr lang="en-IN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164243-5E5F-571A-F3A8-957ADE1C97FE}"/>
              </a:ext>
            </a:extLst>
          </p:cNvPr>
          <p:cNvSpPr txBox="1"/>
          <p:nvPr/>
        </p:nvSpPr>
        <p:spPr>
          <a:xfrm>
            <a:off x="6781798" y="1596830"/>
            <a:ext cx="4550230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Saves fuel, lowers medical and operational costs, cost-effective long-term.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Reduces congestion and pollution.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Enhances public safety and overall urban mobility.</a:t>
            </a:r>
          </a:p>
          <a:p>
            <a:endParaRPr lang="en-IN" b="1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8115C89-9914-4B86-9CB1-475BB68B2B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6757" y="4877093"/>
            <a:ext cx="2552709" cy="137005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D8A075F-2259-D1C7-9335-B26002A291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1631" y="4877093"/>
            <a:ext cx="2547608" cy="1349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FE416E3B-FE71-7D7C-70B1-C8186C377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3808" y="3879522"/>
            <a:ext cx="4890992" cy="10181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92D286A-E52D-CEA2-3643-DA5DCE339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3808" y="2450839"/>
            <a:ext cx="4890992" cy="133530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E8C58DB-C083-E468-8085-E7A2AB26C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3808" y="1095374"/>
            <a:ext cx="4890992" cy="133530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C90F65B-E171-7D82-6AEC-A2251C42D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1333" y="4951208"/>
            <a:ext cx="4890992" cy="10181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0C5FD2A-284B-FF78-E3F2-48EB145CFB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490" y="5216257"/>
            <a:ext cx="5255207" cy="8257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C9E1E29-6A3F-7F98-2478-EF1AF3CD9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376" y="4445006"/>
            <a:ext cx="5255207" cy="7692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E0853A-B79E-6F78-3E68-63384FB18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13" y="3594280"/>
            <a:ext cx="5176363" cy="7943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479ADF-0E6B-67DB-EC16-1924884A9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13" y="2204689"/>
            <a:ext cx="5255207" cy="133316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8565F39-E1D3-6168-C2DB-E36045FEC66F}"/>
              </a:ext>
            </a:extLst>
          </p:cNvPr>
          <p:cNvSpPr/>
          <p:nvPr/>
        </p:nvSpPr>
        <p:spPr>
          <a:xfrm>
            <a:off x="696685" y="1107326"/>
            <a:ext cx="5154591" cy="920978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40000" dist="20000" dir="5400000" rotWithShape="0">
              <a:srgbClr val="000000">
                <a:alpha val="38000"/>
              </a:srgbClr>
            </a:outerShdw>
            <a:softEdge rad="3175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85322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Alpha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10422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EDA8BD6-FF46-1E21-FC6D-A3E429BD90F8}"/>
              </a:ext>
            </a:extLst>
          </p:cNvPr>
          <p:cNvSpPr txBox="1"/>
          <p:nvPr/>
        </p:nvSpPr>
        <p:spPr>
          <a:xfrm>
            <a:off x="364496" y="1168014"/>
            <a:ext cx="539969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Shingate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K., Jagdale, K., Dias, Y., “Adaptive Traffic Control System using Reinforcement Learning.” IJERT, 2020. </a:t>
            </a:r>
          </a:p>
          <a:p>
            <a:pPr marL="342900" indent="-342900" algn="just"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Elsagheer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A. M.,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AlShalfan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K. A., “Intelligent Traffic Management System Based on the Internet of Vehicles (IoV).” Journal of Advanced Transportation, 2021.</a:t>
            </a:r>
          </a:p>
          <a:p>
            <a:pPr marL="342900" indent="-342900" algn="just"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Based Emergency Vehicle Detection using YOLOv8 (Syed Suhana et al., India)</a:t>
            </a:r>
          </a:p>
          <a:p>
            <a:pPr marL="342900" indent="-342900" algn="just"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Density Based Traffic Management Using Deep Learning and Computer Vision (Ramakrishna et al.)</a:t>
            </a:r>
          </a:p>
          <a:p>
            <a:pPr marL="342900" indent="-342900" algn="just"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Traffic Light Control using Arduino (ResearchGate)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42F754-FE3A-D1B8-0CD9-DF0AFDF19340}"/>
              </a:ext>
            </a:extLst>
          </p:cNvPr>
          <p:cNvSpPr txBox="1"/>
          <p:nvPr/>
        </p:nvSpPr>
        <p:spPr>
          <a:xfrm>
            <a:off x="6528122" y="1133290"/>
            <a:ext cx="489099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 startAt="6"/>
            </a:pPr>
            <a:r>
              <a:rPr lang="en-US" dirty="0"/>
              <a:t> Road Accidents India – 2022 (</a:t>
            </a:r>
            <a:r>
              <a:rPr lang="en-US" dirty="0" err="1"/>
              <a:t>ReportTitle</a:t>
            </a:r>
            <a:r>
              <a:rPr lang="en-US" dirty="0"/>
              <a:t>: 1.68 lakh people died in 4.61 lakh road accidents in 2022: Road ministry report by the Ministry of Road Transport &amp; Highways (MoRTH), India.)   </a:t>
            </a:r>
          </a:p>
          <a:p>
            <a:pPr marL="342900" indent="-342900" algn="just">
              <a:buFont typeface="+mj-lt"/>
              <a:buAutoNum type="arabicPeriod" startAt="6"/>
            </a:pPr>
            <a:endParaRPr lang="en-US" dirty="0"/>
          </a:p>
          <a:p>
            <a:pPr marL="342900" indent="-342900" algn="just">
              <a:buFont typeface="+mj-lt"/>
              <a:buAutoNum type="arabicPeriod" startAt="6"/>
            </a:pPr>
            <a:r>
              <a:rPr lang="en-US" dirty="0"/>
              <a:t>Ahmedabad Adaptive Signals &amp; Wait </a:t>
            </a:r>
            <a:r>
              <a:rPr lang="en-US" dirty="0" err="1"/>
              <a:t>TimeTitle</a:t>
            </a:r>
            <a:r>
              <a:rPr lang="en-US" dirty="0"/>
              <a:t>: Adaptive signals to reduce waiting time at 400 junctions (Ahmedabad) — The Times of India article. </a:t>
            </a:r>
          </a:p>
          <a:p>
            <a:pPr marL="342900" indent="-342900" algn="just">
              <a:buFont typeface="+mj-lt"/>
              <a:buAutoNum type="arabicPeriod" startAt="6"/>
            </a:pPr>
            <a:endParaRPr lang="en-US" dirty="0"/>
          </a:p>
          <a:p>
            <a:pPr marL="342900" indent="-342900">
              <a:buFont typeface="+mj-lt"/>
              <a:buAutoNum type="arabicPeriod" startAt="6"/>
            </a:pPr>
            <a:r>
              <a:rPr lang="en-US" dirty="0"/>
              <a:t> YOUTUBE </a:t>
            </a:r>
            <a:r>
              <a:rPr lang="en-US" dirty="0">
                <a:solidFill>
                  <a:srgbClr val="0070C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https://youtu.be/RkFp7xHUhkg?feature=shared</a:t>
            </a:r>
            <a:endParaRPr lang="en-US" dirty="0">
              <a:solidFill>
                <a:srgbClr val="0070C0"/>
              </a:solidFill>
            </a:endParaRPr>
          </a:p>
          <a:p>
            <a:pPr marL="342900" indent="-342900">
              <a:buFont typeface="+mj-lt"/>
              <a:buAutoNum type="arabicPeriod" startAt="6"/>
            </a:pPr>
            <a:endParaRPr lang="en-US" dirty="0"/>
          </a:p>
          <a:p>
            <a:pPr marL="342900" indent="-342900">
              <a:buFont typeface="+mj-lt"/>
              <a:buAutoNum type="arabicPeriod" startAt="6"/>
            </a:pPr>
            <a:r>
              <a:rPr lang="en-US" dirty="0"/>
              <a:t> YOUTUBE   </a:t>
            </a:r>
            <a:r>
              <a:rPr lang="en-US" u="sng" dirty="0">
                <a:solidFill>
                  <a:srgbClr val="0070C0"/>
                </a:solidFill>
              </a:rPr>
              <a:t>https://youtu.be/OssY5pzOyo0?si=R0GvwojPDvpsawNf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8741</TotalTime>
  <Words>621</Words>
  <Application>Microsoft Office PowerPoint</Application>
  <PresentationFormat>Widescreen</PresentationFormat>
  <Paragraphs>120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Arial</vt:lpstr>
      <vt:lpstr>Bahnschrift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SMART TRAFFIC CONTROL SIGNALS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archita kumari</cp:lastModifiedBy>
  <cp:revision>151</cp:revision>
  <dcterms:created xsi:type="dcterms:W3CDTF">2013-12-12T18:46:50Z</dcterms:created>
  <dcterms:modified xsi:type="dcterms:W3CDTF">2025-09-22T07:40:05Z</dcterms:modified>
  <cp:category/>
</cp:coreProperties>
</file>